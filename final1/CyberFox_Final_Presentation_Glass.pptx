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eda1a34-1c4d-e183-579e-c82dca9eaf78}">
          <p14:sldIdLst>
            <p14:sldId id="256"/>
          </p14:sldIdLst>
        </p14:section>
        <p14:section name="Motivation" id="{d382c505-6298-6aa6-edee-1322d45e823b}">
          <p14:sldIdLst>
            <p14:sldId id="257"/>
          </p14:sldIdLst>
        </p14:section>
        <p14:section name="Implementation" id="{ccc054c2-6c59-8511-135e-fcb3d413b927}">
          <p14:sldIdLst>
            <p14:sldId id="258"/>
          </p14:sldIdLst>
        </p14:section>
        <p14:section name="Validation" id="{24ffba67-d7d8-57f8-6384-b304079b40bf}">
          <p14:sldIdLst>
            <p14:sldId id="259"/>
          </p14:sldIdLst>
        </p14:section>
        <p14:section name="Outcomes" id="{15c5af68-15db-970a-6e82-01adc9dc9b7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8BE"/>
                </a:solidFill>
              </a:rPr>
              <a:t>01 / PROJECT OVERVIEW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13716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Windows / Sysmon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Threat Detection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D"/>
                </a:solidFill>
              </a:rPr>
              <a:t>Rule-based, explainable detection for offline Windows event logs</a:t>
            </a:r>
            <a:endParaRPr lang="en-US" sz="1800" dirty="0"/>
          </a:p>
        </p:txBody>
      </p:sp>
      <p:sp>
        <p:nvSpPr>
          <p:cNvPr id="5" name="Status pill"/>
          <p:cNvSpPr/>
          <p:nvPr/>
        </p:nvSpPr>
        <p:spPr>
          <a:xfrm>
            <a:off x="731520" y="4754880"/>
            <a:ext cx="3749040" cy="384048"/>
          </a:xfrm>
          <a:prstGeom prst="roundRect">
            <a:avLst>
              <a:gd name="adj" fmla="val 50000"/>
            </a:avLst>
          </a:prstGeom>
          <a:solidFill>
            <a:srgbClr val="00C8BE">
              <a:alpha val="15000"/>
            </a:srgbClr>
          </a:solidFill>
          <a:ln w="9525">
            <a:solidFill>
              <a:srgbClr val="00C8BE">
                <a:alpha val="55000"/>
              </a:srgbClr>
            </a:solidFill>
            <a:prstDash val="solid"/>
          </a:ln>
        </p:spPr>
      </p:sp>
      <p:sp>
        <p:nvSpPr>
          <p:cNvPr id="6" name="Status pill text"/>
          <p:cNvSpPr txBox="1"/>
          <p:nvPr/>
        </p:nvSpPr>
        <p:spPr>
          <a:xfrm>
            <a:off x="731520" y="4754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Final MVP  |  Rule-based Python prototype</a:t>
            </a:r>
            <a:endParaRPr lang="en-US" sz="1300" dirty="0"/>
          </a:p>
        </p:txBody>
      </p:sp>
      <p:sp>
        <p:nvSpPr>
          <p:cNvPr id="7" name="Overview card"/>
          <p:cNvSpPr/>
          <p:nvPr/>
        </p:nvSpPr>
        <p:spPr>
          <a:xfrm>
            <a:off x="6858000" y="1234440"/>
            <a:ext cx="4599432" cy="4114800"/>
          </a:xfrm>
          <a:prstGeom prst="roundRect">
            <a:avLst>
              <a:gd name="adj" fmla="val 4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8" name="Icon 1 badge"/>
          <p:cNvSpPr/>
          <p:nvPr/>
        </p:nvSpPr>
        <p:spPr>
          <a:xfrm>
            <a:off x="7223760" y="1600200"/>
            <a:ext cx="640080" cy="64008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9" name="Icon 1" descr="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982" y="1779422"/>
            <a:ext cx="281635" cy="281635"/>
          </a:xfrm>
          <a:prstGeom prst="rect">
            <a:avLst/>
          </a:prstGeom>
        </p:spPr>
      </p:pic>
      <p:sp>
        <p:nvSpPr>
          <p:cNvPr id="10" name="Row 1"/>
          <p:cNvSpPr txBox="1"/>
          <p:nvPr/>
        </p:nvSpPr>
        <p:spPr>
          <a:xfrm>
            <a:off x="8046720" y="155448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CyberFox Society — Cybersecurity R&amp;D Internship</a:t>
            </a:r>
            <a:endParaRPr lang="en-US" sz="1600" dirty="0"/>
          </a:p>
        </p:txBody>
      </p:sp>
      <p:sp>
        <p:nvSpPr>
          <p:cNvPr id="11" name="Icon 2 badge"/>
          <p:cNvSpPr/>
          <p:nvPr/>
        </p:nvSpPr>
        <p:spPr>
          <a:xfrm>
            <a:off x="7223760" y="2788920"/>
            <a:ext cx="640080" cy="64008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12" name="Icon 2" descr="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2968142"/>
            <a:ext cx="281635" cy="281635"/>
          </a:xfrm>
          <a:prstGeom prst="rect">
            <a:avLst/>
          </a:prstGeom>
        </p:spPr>
      </p:pic>
      <p:sp>
        <p:nvSpPr>
          <p:cNvPr id="13" name="Row 2"/>
          <p:cNvSpPr txBox="1"/>
          <p:nvPr/>
        </p:nvSpPr>
        <p:spPr>
          <a:xfrm>
            <a:off x="8046720" y="274320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Area: Security Operations &amp; Detection Engineering</a:t>
            </a:r>
            <a:endParaRPr lang="en-US" sz="1600" dirty="0"/>
          </a:p>
        </p:txBody>
      </p:sp>
      <p:sp>
        <p:nvSpPr>
          <p:cNvPr id="14" name="Icon 3 badge"/>
          <p:cNvSpPr/>
          <p:nvPr/>
        </p:nvSpPr>
        <p:spPr>
          <a:xfrm>
            <a:off x="7223760" y="3977640"/>
            <a:ext cx="640080" cy="640080"/>
          </a:xfrm>
          <a:prstGeom prst="ellipse">
            <a:avLst/>
          </a:prstGeom>
          <a:solidFill>
            <a:srgbClr val="FF7A1A">
              <a:alpha val="20000"/>
            </a:srgbClr>
          </a:solidFill>
          <a:ln w="9525">
            <a:solidFill>
              <a:srgbClr val="FF7A1A">
                <a:alpha val="60000"/>
              </a:srgb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82" y="4156862"/>
            <a:ext cx="281635" cy="281635"/>
          </a:xfrm>
          <a:prstGeom prst="rect">
            <a:avLst/>
          </a:prstGeom>
        </p:spPr>
      </p:pic>
      <p:sp>
        <p:nvSpPr>
          <p:cNvPr id="16" name="Row 3"/>
          <p:cNvSpPr txBox="1"/>
          <p:nvPr/>
        </p:nvSpPr>
        <p:spPr>
          <a:xfrm>
            <a:off x="8046720" y="393192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Goal: offline, transparent alerts for selected Windows activity</a:t>
            </a:r>
            <a:endParaRPr lang="en-US" sz="1600" dirty="0"/>
          </a:p>
        </p:txBody>
      </p:sp>
      <p:sp>
        <p:nvSpPr>
          <p:cNvPr id="17" name="Brand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CyberFox Society</a:t>
            </a:r>
            <a:endParaRPr lang="en-US" sz="1100" dirty="0"/>
          </a:p>
        </p:txBody>
      </p:sp>
      <p:sp>
        <p:nvSpPr>
          <p:cNvPr id="18" name="Page"/>
          <p:cNvSpPr txBox="1"/>
          <p:nvPr/>
        </p:nvSpPr>
        <p:spPr>
          <a:xfrm>
            <a:off x="96286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1 / 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8BE"/>
                </a:solidFill>
              </a:rPr>
              <a:t>02 / MOTIVATION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Problem &amp; Proposed Solution</a:t>
            </a:r>
            <a:endParaRPr lang="en-US" sz="4000" dirty="0"/>
          </a:p>
        </p:txBody>
      </p:sp>
      <p:sp>
        <p:nvSpPr>
          <p:cNvPr id="4" name="Problem card"/>
          <p:cNvSpPr/>
          <p:nvPr/>
        </p:nvSpPr>
        <p:spPr>
          <a:xfrm>
            <a:off x="731520" y="2011680"/>
            <a:ext cx="5074920" cy="2651760"/>
          </a:xfrm>
          <a:prstGeom prst="roundRect">
            <a:avLst>
              <a:gd name="adj" fmla="val 620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Problem icon badge"/>
          <p:cNvSpPr/>
          <p:nvPr/>
        </p:nvSpPr>
        <p:spPr>
          <a:xfrm>
            <a:off x="1097280" y="2377440"/>
            <a:ext cx="548640" cy="548640"/>
          </a:xfrm>
          <a:prstGeom prst="ellipse">
            <a:avLst/>
          </a:prstGeom>
          <a:solidFill>
            <a:srgbClr val="FF7A1A">
              <a:alpha val="20000"/>
            </a:srgbClr>
          </a:solidFill>
          <a:ln w="9525">
            <a:solidFill>
              <a:srgbClr val="FF7A1A">
                <a:alpha val="60000"/>
              </a:srgbClr>
            </a:solidFill>
            <a:prstDash val="solid"/>
          </a:ln>
        </p:spPr>
      </p:sp>
      <p:pic>
        <p:nvPicPr>
          <p:cNvPr id="6" name="Problem icon" descr="Probl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99" y="2531059"/>
            <a:ext cx="241402" cy="241402"/>
          </a:xfrm>
          <a:prstGeom prst="rect">
            <a:avLst/>
          </a:prstGeom>
        </p:spPr>
      </p:pic>
      <p:sp>
        <p:nvSpPr>
          <p:cNvPr id="7" name="Problem heading"/>
          <p:cNvSpPr txBox="1"/>
          <p:nvPr/>
        </p:nvSpPr>
        <p:spPr>
          <a:xfrm>
            <a:off x="1828800" y="2377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8" name="Problem bullets"/>
          <p:cNvSpPr txBox="1"/>
          <p:nvPr/>
        </p:nvSpPr>
        <p:spPr>
          <a:xfrm>
            <a:off x="1097280" y="320040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8C7DD"/>
                </a:solidFill>
              </a:rPr>
              <a:t>Windows/Sysmon events are noisy and require interpretation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B8C7DD"/>
                </a:solidFill>
              </a:rPr>
              <a:t>Existing monitoring tools need detection rules and tuning</a:t>
            </a:r>
            <a:endParaRPr lang="en-US" sz="1600" dirty="0"/>
          </a:p>
        </p:txBody>
      </p:sp>
      <p:sp>
        <p:nvSpPr>
          <p:cNvPr id="9" name="Solution card"/>
          <p:cNvSpPr/>
          <p:nvPr/>
        </p:nvSpPr>
        <p:spPr>
          <a:xfrm>
            <a:off x="6126480" y="2011680"/>
            <a:ext cx="5074920" cy="2651760"/>
          </a:xfrm>
          <a:prstGeom prst="roundRect">
            <a:avLst>
              <a:gd name="adj" fmla="val 6207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0" name="Solution icon badge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11" name="Solution icon" descr="Solu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9" y="2531059"/>
            <a:ext cx="241402" cy="241402"/>
          </a:xfrm>
          <a:prstGeom prst="rect">
            <a:avLst/>
          </a:prstGeom>
        </p:spPr>
      </p:pic>
      <p:sp>
        <p:nvSpPr>
          <p:cNvPr id="12" name="Solution heading"/>
          <p:cNvSpPr txBox="1"/>
          <p:nvPr/>
        </p:nvSpPr>
        <p:spPr>
          <a:xfrm>
            <a:off x="7223760" y="2377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MVP</a:t>
            </a:r>
            <a:endParaRPr lang="en-US" sz="2200" dirty="0"/>
          </a:p>
        </p:txBody>
      </p:sp>
      <p:sp>
        <p:nvSpPr>
          <p:cNvPr id="13" name="Solution text"/>
          <p:cNvSpPr txBox="1"/>
          <p:nvPr/>
        </p:nvSpPr>
        <p:spPr>
          <a:xfrm>
            <a:off x="6492240" y="320040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Normalize exported logs, apply explainable rules, emit JSON alerts</a:t>
            </a:r>
            <a:endParaRPr lang="en-US" sz="1800" dirty="0"/>
          </a:p>
        </p:txBody>
      </p:sp>
      <p:sp>
        <p:nvSpPr>
          <p:cNvPr id="14" name="Scope pill"/>
          <p:cNvSpPr/>
          <p:nvPr/>
        </p:nvSpPr>
        <p:spPr>
          <a:xfrm>
            <a:off x="731520" y="502920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FF7A1A">
              <a:alpha val="15000"/>
            </a:srgbClr>
          </a:solidFill>
          <a:ln w="9525">
            <a:solidFill>
              <a:srgbClr val="FF7A1A">
                <a:alpha val="55000"/>
              </a:srgbClr>
            </a:solidFill>
            <a:prstDash val="solid"/>
          </a:ln>
        </p:spPr>
      </p:sp>
      <p:sp>
        <p:nvSpPr>
          <p:cNvPr id="15" name="Scope pill text"/>
          <p:cNvSpPr txBox="1"/>
          <p:nvPr/>
        </p:nvSpPr>
        <p:spPr>
          <a:xfrm>
            <a:off x="731520" y="5029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Scope: Windows Security 4625 and Sysmon Event ID 1</a:t>
            </a:r>
            <a:endParaRPr lang="en-US" sz="1300" dirty="0"/>
          </a:p>
        </p:txBody>
      </p:sp>
      <p:sp>
        <p:nvSpPr>
          <p:cNvPr id="16" name="Brand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CyberFox Society</a:t>
            </a:r>
            <a:endParaRPr lang="en-US" sz="1100" dirty="0"/>
          </a:p>
        </p:txBody>
      </p:sp>
      <p:sp>
        <p:nvSpPr>
          <p:cNvPr id="17" name="Page"/>
          <p:cNvSpPr txBox="1"/>
          <p:nvPr/>
        </p:nvSpPr>
        <p:spPr>
          <a:xfrm>
            <a:off x="96286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2 / 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8BE"/>
                </a:solidFill>
              </a:rPr>
              <a:t>03 / IMPLEMENTATION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Architecture &amp; Detection Logic</a:t>
            </a:r>
            <a:endParaRPr lang="en-US" sz="4000" dirty="0"/>
          </a:p>
        </p:txBody>
      </p:sp>
      <p:sp>
        <p:nvSpPr>
          <p:cNvPr id="4" name="Node 1"/>
          <p:cNvSpPr/>
          <p:nvPr/>
        </p:nvSpPr>
        <p:spPr>
          <a:xfrm>
            <a:off x="731520" y="196596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Node icon 1 badge"/>
          <p:cNvSpPr/>
          <p:nvPr/>
        </p:nvSpPr>
        <p:spPr>
          <a:xfrm>
            <a:off x="1005840" y="2221992"/>
            <a:ext cx="548640" cy="54864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6" name="Node icon 1" descr="Node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" y="2375611"/>
            <a:ext cx="241402" cy="241402"/>
          </a:xfrm>
          <a:prstGeom prst="rect">
            <a:avLst/>
          </a:prstGeom>
        </p:spPr>
      </p:pic>
      <p:sp>
        <p:nvSpPr>
          <p:cNvPr id="7" name="Node title 1"/>
          <p:cNvSpPr txBox="1"/>
          <p:nvPr/>
        </p:nvSpPr>
        <p:spPr>
          <a:xfrm>
            <a:off x="100584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Input</a:t>
            </a:r>
            <a:endParaRPr lang="en-US" sz="1700" dirty="0"/>
          </a:p>
        </p:txBody>
      </p:sp>
      <p:sp>
        <p:nvSpPr>
          <p:cNvPr id="8" name="Node text 1"/>
          <p:cNvSpPr txBox="1"/>
          <p:nvPr/>
        </p:nvSpPr>
        <p:spPr>
          <a:xfrm>
            <a:off x="10058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D"/>
                </a:solidFill>
              </a:rPr>
              <a:t>Normalized JSON or exported Windows Event XML</a:t>
            </a:r>
            <a:endParaRPr lang="en-US" sz="1200" dirty="0"/>
          </a:p>
        </p:txBody>
      </p:sp>
      <p:sp>
        <p:nvSpPr>
          <p:cNvPr id="9" name="Arrow 1"/>
          <p:cNvSpPr txBox="1"/>
          <p:nvPr/>
        </p:nvSpPr>
        <p:spPr>
          <a:xfrm>
            <a:off x="3017520" y="2606040"/>
            <a:ext cx="527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BE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Node 2"/>
          <p:cNvSpPr/>
          <p:nvPr/>
        </p:nvSpPr>
        <p:spPr>
          <a:xfrm>
            <a:off x="3544824" y="196596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1" name="Node icon 2 badge"/>
          <p:cNvSpPr/>
          <p:nvPr/>
        </p:nvSpPr>
        <p:spPr>
          <a:xfrm>
            <a:off x="3819144" y="2221992"/>
            <a:ext cx="548640" cy="54864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12" name="Node icon 2" descr="Node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763" y="2375611"/>
            <a:ext cx="241402" cy="241402"/>
          </a:xfrm>
          <a:prstGeom prst="rect">
            <a:avLst/>
          </a:prstGeom>
        </p:spPr>
      </p:pic>
      <p:sp>
        <p:nvSpPr>
          <p:cNvPr id="13" name="Node title 2"/>
          <p:cNvSpPr txBox="1"/>
          <p:nvPr/>
        </p:nvSpPr>
        <p:spPr>
          <a:xfrm>
            <a:off x="3819144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XML parser</a:t>
            </a:r>
            <a:endParaRPr lang="en-US" sz="1700" dirty="0"/>
          </a:p>
        </p:txBody>
      </p:sp>
      <p:sp>
        <p:nvSpPr>
          <p:cNvPr id="14" name="Node text 2"/>
          <p:cNvSpPr txBox="1"/>
          <p:nvPr/>
        </p:nvSpPr>
        <p:spPr>
          <a:xfrm>
            <a:off x="3819144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D"/>
                </a:solidFill>
              </a:rPr>
              <a:t>Normalized events</a:t>
            </a:r>
            <a:endParaRPr lang="en-US" sz="1200" dirty="0"/>
          </a:p>
        </p:txBody>
      </p:sp>
      <p:sp>
        <p:nvSpPr>
          <p:cNvPr id="15" name="Arrow 2"/>
          <p:cNvSpPr txBox="1"/>
          <p:nvPr/>
        </p:nvSpPr>
        <p:spPr>
          <a:xfrm>
            <a:off x="5830824" y="2606040"/>
            <a:ext cx="527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BE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Node 3"/>
          <p:cNvSpPr/>
          <p:nvPr/>
        </p:nvSpPr>
        <p:spPr>
          <a:xfrm>
            <a:off x="6358128" y="196596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7" name="Node icon 3 badge"/>
          <p:cNvSpPr/>
          <p:nvPr/>
        </p:nvSpPr>
        <p:spPr>
          <a:xfrm>
            <a:off x="6632448" y="2221992"/>
            <a:ext cx="548640" cy="54864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18" name="Node icon 3" descr="Node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067" y="2375611"/>
            <a:ext cx="241402" cy="241402"/>
          </a:xfrm>
          <a:prstGeom prst="rect">
            <a:avLst/>
          </a:prstGeom>
        </p:spPr>
      </p:pic>
      <p:sp>
        <p:nvSpPr>
          <p:cNvPr id="19" name="Node title 3"/>
          <p:cNvSpPr txBox="1"/>
          <p:nvPr/>
        </p:nvSpPr>
        <p:spPr>
          <a:xfrm>
            <a:off x="6632448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Detection engine</a:t>
            </a:r>
            <a:endParaRPr lang="en-US" sz="1700" dirty="0"/>
          </a:p>
        </p:txBody>
      </p:sp>
      <p:sp>
        <p:nvSpPr>
          <p:cNvPr id="20" name="Node text 3"/>
          <p:cNvSpPr txBox="1"/>
          <p:nvPr/>
        </p:nvSpPr>
        <p:spPr>
          <a:xfrm>
            <a:off x="6632448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D"/>
                </a:solidFill>
              </a:rPr>
              <a:t>Explainable rules</a:t>
            </a:r>
            <a:endParaRPr lang="en-US" sz="1200" dirty="0"/>
          </a:p>
        </p:txBody>
      </p:sp>
      <p:sp>
        <p:nvSpPr>
          <p:cNvPr id="21" name="Arrow 3"/>
          <p:cNvSpPr txBox="1"/>
          <p:nvPr/>
        </p:nvSpPr>
        <p:spPr>
          <a:xfrm>
            <a:off x="8644128" y="2606040"/>
            <a:ext cx="527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BE"/>
                </a:solidFill>
              </a:rPr>
              <a:t>→</a:t>
            </a:r>
            <a:endParaRPr lang="en-US" sz="2600" dirty="0"/>
          </a:p>
        </p:txBody>
      </p:sp>
      <p:sp>
        <p:nvSpPr>
          <p:cNvPr id="22" name="Node 4"/>
          <p:cNvSpPr/>
          <p:nvPr/>
        </p:nvSpPr>
        <p:spPr>
          <a:xfrm>
            <a:off x="9171432" y="196596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3" name="Node icon 4 badge"/>
          <p:cNvSpPr/>
          <p:nvPr/>
        </p:nvSpPr>
        <p:spPr>
          <a:xfrm>
            <a:off x="9445752" y="2221992"/>
            <a:ext cx="548640" cy="548640"/>
          </a:xfrm>
          <a:prstGeom prst="ellipse">
            <a:avLst/>
          </a:prstGeom>
          <a:solidFill>
            <a:srgbClr val="FF7A1A">
              <a:alpha val="20000"/>
            </a:srgbClr>
          </a:solidFill>
          <a:ln w="9525">
            <a:solidFill>
              <a:srgbClr val="FF7A1A">
                <a:alpha val="60000"/>
              </a:srgbClr>
            </a:solidFill>
            <a:prstDash val="solid"/>
          </a:ln>
        </p:spPr>
      </p:sp>
      <p:pic>
        <p:nvPicPr>
          <p:cNvPr id="24" name="Node icon 4" descr="Node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371" y="2375611"/>
            <a:ext cx="241402" cy="241402"/>
          </a:xfrm>
          <a:prstGeom prst="rect">
            <a:avLst/>
          </a:prstGeom>
        </p:spPr>
      </p:pic>
      <p:sp>
        <p:nvSpPr>
          <p:cNvPr id="25" name="Node title 4"/>
          <p:cNvSpPr txBox="1"/>
          <p:nvPr/>
        </p:nvSpPr>
        <p:spPr>
          <a:xfrm>
            <a:off x="9445752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JSON alerts</a:t>
            </a:r>
            <a:endParaRPr lang="en-US" sz="1700" dirty="0"/>
          </a:p>
        </p:txBody>
      </p:sp>
      <p:sp>
        <p:nvSpPr>
          <p:cNvPr id="26" name="Node text 4"/>
          <p:cNvSpPr txBox="1"/>
          <p:nvPr/>
        </p:nvSpPr>
        <p:spPr>
          <a:xfrm>
            <a:off x="9445752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D"/>
                </a:solidFill>
              </a:rPr>
              <a:t>Transparent output</a:t>
            </a:r>
            <a:endParaRPr lang="en-US" sz="1200" dirty="0"/>
          </a:p>
        </p:txBody>
      </p:sp>
      <p:sp>
        <p:nvSpPr>
          <p:cNvPr id="27" name="Rule card 1"/>
          <p:cNvSpPr/>
          <p:nvPr/>
        </p:nvSpPr>
        <p:spPr>
          <a:xfrm>
            <a:off x="731520" y="4023360"/>
            <a:ext cx="5202936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8" name="Rule icon 1 badge"/>
          <p:cNvSpPr/>
          <p:nvPr/>
        </p:nvSpPr>
        <p:spPr>
          <a:xfrm>
            <a:off x="1051560" y="4389120"/>
            <a:ext cx="640080" cy="640080"/>
          </a:xfrm>
          <a:prstGeom prst="ellipse">
            <a:avLst/>
          </a:prstGeom>
          <a:solidFill>
            <a:srgbClr val="FF7A1A">
              <a:alpha val="20000"/>
            </a:srgbClr>
          </a:solidFill>
          <a:ln w="9525">
            <a:solidFill>
              <a:srgbClr val="FF7A1A">
                <a:alpha val="60000"/>
              </a:srgbClr>
            </a:solidFill>
            <a:prstDash val="solid"/>
          </a:ln>
        </p:spPr>
      </p:sp>
      <p:pic>
        <p:nvPicPr>
          <p:cNvPr id="29" name="Rule icon 1" descr="Rule icon 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782" y="4568342"/>
            <a:ext cx="281635" cy="281635"/>
          </a:xfrm>
          <a:prstGeom prst="rect">
            <a:avLst/>
          </a:prstGeom>
        </p:spPr>
      </p:pic>
      <p:sp>
        <p:nvSpPr>
          <p:cNvPr id="30" name="Rule title 1"/>
          <p:cNvSpPr txBox="1"/>
          <p:nvPr/>
        </p:nvSpPr>
        <p:spPr>
          <a:xfrm>
            <a:off x="1965960" y="429768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Windows Security 4625</a:t>
            </a:r>
            <a:endParaRPr lang="en-US" sz="1800" dirty="0"/>
          </a:p>
        </p:txBody>
      </p:sp>
      <p:sp>
        <p:nvSpPr>
          <p:cNvPr id="31" name="Rule text 1"/>
          <p:cNvSpPr txBox="1"/>
          <p:nvPr/>
        </p:nvSpPr>
        <p:spPr>
          <a:xfrm>
            <a:off x="1965960" y="4709160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7DD"/>
                </a:solidFill>
              </a:rPr>
              <a:t>≥5 failures / same host, IP, account / 10 minutes</a:t>
            </a:r>
            <a:endParaRPr lang="en-US" sz="1400" dirty="0"/>
          </a:p>
        </p:txBody>
      </p:sp>
      <p:sp>
        <p:nvSpPr>
          <p:cNvPr id="32" name="Rule card 2"/>
          <p:cNvSpPr/>
          <p:nvPr/>
        </p:nvSpPr>
        <p:spPr>
          <a:xfrm>
            <a:off x="6254496" y="4023360"/>
            <a:ext cx="5202936" cy="1417320"/>
          </a:xfrm>
          <a:prstGeom prst="roundRect">
            <a:avLst>
              <a:gd name="adj" fmla="val 1161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33" name="Rule icon 2 badge"/>
          <p:cNvSpPr/>
          <p:nvPr/>
        </p:nvSpPr>
        <p:spPr>
          <a:xfrm>
            <a:off x="6574536" y="4389120"/>
            <a:ext cx="640080" cy="64008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34" name="Rule icon 2" descr="Rule icon 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758" y="4568342"/>
            <a:ext cx="281635" cy="281635"/>
          </a:xfrm>
          <a:prstGeom prst="rect">
            <a:avLst/>
          </a:prstGeom>
        </p:spPr>
      </p:pic>
      <p:sp>
        <p:nvSpPr>
          <p:cNvPr id="35" name="Rule title 2"/>
          <p:cNvSpPr txBox="1"/>
          <p:nvPr/>
        </p:nvSpPr>
        <p:spPr>
          <a:xfrm>
            <a:off x="7488936" y="429768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Sysmon Event ID 1</a:t>
            </a:r>
            <a:endParaRPr lang="en-US" sz="1800" dirty="0"/>
          </a:p>
        </p:txBody>
      </p:sp>
      <p:sp>
        <p:nvSpPr>
          <p:cNvPr id="36" name="Rule text 2"/>
          <p:cNvSpPr txBox="1"/>
          <p:nvPr/>
        </p:nvSpPr>
        <p:spPr>
          <a:xfrm>
            <a:off x="7488936" y="4709160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7DD"/>
                </a:solidFill>
              </a:rPr>
              <a:t>Selected suspicious PowerShell argument patterns</a:t>
            </a:r>
            <a:endParaRPr lang="en-US" sz="1400" dirty="0"/>
          </a:p>
        </p:txBody>
      </p:sp>
      <p:sp>
        <p:nvSpPr>
          <p:cNvPr id="37" name="Tech pill"/>
          <p:cNvSpPr/>
          <p:nvPr/>
        </p:nvSpPr>
        <p:spPr>
          <a:xfrm>
            <a:off x="731520" y="57607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00C8BE">
              <a:alpha val="15000"/>
            </a:srgbClr>
          </a:solidFill>
          <a:ln w="9525">
            <a:solidFill>
              <a:srgbClr val="00C8BE">
                <a:alpha val="55000"/>
              </a:srgbClr>
            </a:solidFill>
            <a:prstDash val="solid"/>
          </a:ln>
        </p:spPr>
      </p:sp>
      <p:sp>
        <p:nvSpPr>
          <p:cNvPr id="38" name="Tech pill text"/>
          <p:cNvSpPr txBox="1"/>
          <p:nvPr/>
        </p:nvSpPr>
        <p:spPr>
          <a:xfrm>
            <a:off x="731520" y="5760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Python standard library  |  Offline processing</a:t>
            </a:r>
            <a:endParaRPr lang="en-US" sz="1300" dirty="0"/>
          </a:p>
        </p:txBody>
      </p:sp>
      <p:sp>
        <p:nvSpPr>
          <p:cNvPr id="39" name="Brand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CyberFox Society</a:t>
            </a:r>
            <a:endParaRPr lang="en-US" sz="1100" dirty="0"/>
          </a:p>
        </p:txBody>
      </p:sp>
      <p:sp>
        <p:nvSpPr>
          <p:cNvPr id="40" name="Page"/>
          <p:cNvSpPr txBox="1"/>
          <p:nvPr/>
        </p:nvSpPr>
        <p:spPr>
          <a:xfrm>
            <a:off x="96286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3 / 05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8BE"/>
                </a:solidFill>
              </a:rPr>
              <a:t>04 / VALIDATION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Testing &amp; Evidence</a:t>
            </a:r>
            <a:endParaRPr lang="en-US" sz="4000" dirty="0"/>
          </a:p>
        </p:txBody>
      </p:sp>
      <p:sp>
        <p:nvSpPr>
          <p:cNvPr id="4" name="Stat card 1"/>
          <p:cNvSpPr/>
          <p:nvPr/>
        </p:nvSpPr>
        <p:spPr>
          <a:xfrm>
            <a:off x="731520" y="1965960"/>
            <a:ext cx="3361944" cy="2240280"/>
          </a:xfrm>
          <a:prstGeom prst="roundRect">
            <a:avLst>
              <a:gd name="adj" fmla="val 734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Stat value 1"/>
          <p:cNvSpPr txBox="1"/>
          <p:nvPr/>
        </p:nvSpPr>
        <p:spPr>
          <a:xfrm>
            <a:off x="1051560" y="22402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8BE"/>
                </a:solidFill>
              </a:rPr>
              <a:t>13/13</a:t>
            </a:r>
            <a:endParaRPr lang="en-US" sz="5400" dirty="0"/>
          </a:p>
        </p:txBody>
      </p:sp>
      <p:sp>
        <p:nvSpPr>
          <p:cNvPr id="6" name="Stat label 1"/>
          <p:cNvSpPr txBox="1"/>
          <p:nvPr/>
        </p:nvSpPr>
        <p:spPr>
          <a:xfrm>
            <a:off x="1051560" y="315468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Automated tests passed</a:t>
            </a:r>
            <a:endParaRPr lang="en-US" sz="1700" dirty="0"/>
          </a:p>
        </p:txBody>
      </p:sp>
      <p:sp>
        <p:nvSpPr>
          <p:cNvPr id="7" name="Stat note 1"/>
          <p:cNvSpPr txBox="1"/>
          <p:nvPr/>
        </p:nvSpPr>
        <p:spPr>
          <a:xfrm>
            <a:off x="1051560" y="356616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D"/>
                </a:solidFill>
              </a:rPr>
              <a:t>Synthetic fixtures</a:t>
            </a:r>
            <a:endParaRPr lang="en-US" sz="1300" dirty="0"/>
          </a:p>
        </p:txBody>
      </p:sp>
      <p:sp>
        <p:nvSpPr>
          <p:cNvPr id="8" name="Stat card 2"/>
          <p:cNvSpPr/>
          <p:nvPr/>
        </p:nvSpPr>
        <p:spPr>
          <a:xfrm>
            <a:off x="4413504" y="1965960"/>
            <a:ext cx="3361944" cy="2240280"/>
          </a:xfrm>
          <a:prstGeom prst="roundRect">
            <a:avLst>
              <a:gd name="adj" fmla="val 734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9" name="Stat value 2"/>
          <p:cNvSpPr txBox="1"/>
          <p:nvPr/>
        </p:nvSpPr>
        <p:spPr>
          <a:xfrm>
            <a:off x="4733544" y="22402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8BE"/>
                </a:solidFill>
              </a:rPr>
              <a:t>2</a:t>
            </a:r>
            <a:endParaRPr lang="en-US" sz="5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4733544" y="315468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Alerts generated</a:t>
            </a:r>
            <a:endParaRPr lang="en-US" sz="1700" dirty="0"/>
          </a:p>
        </p:txBody>
      </p:sp>
      <p:sp>
        <p:nvSpPr>
          <p:cNvPr id="11" name="Stat note 2"/>
          <p:cNvSpPr txBox="1"/>
          <p:nvPr/>
        </p:nvSpPr>
        <p:spPr>
          <a:xfrm>
            <a:off x="4733544" y="356616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D"/>
                </a:solidFill>
              </a:rPr>
              <a:t>Bundled synthetic XML demo</a:t>
            </a:r>
            <a:endParaRPr lang="en-US" sz="1300" dirty="0"/>
          </a:p>
        </p:txBody>
      </p:sp>
      <p:sp>
        <p:nvSpPr>
          <p:cNvPr id="12" name="Stat card 3"/>
          <p:cNvSpPr/>
          <p:nvPr/>
        </p:nvSpPr>
        <p:spPr>
          <a:xfrm>
            <a:off x="8095488" y="1965960"/>
            <a:ext cx="3361944" cy="2240280"/>
          </a:xfrm>
          <a:prstGeom prst="roundRect">
            <a:avLst>
              <a:gd name="adj" fmla="val 7347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3" name="Stat value 3"/>
          <p:cNvSpPr txBox="1"/>
          <p:nvPr/>
        </p:nvSpPr>
        <p:spPr>
          <a:xfrm>
            <a:off x="8415528" y="22402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7A1A"/>
                </a:solidFill>
              </a:rPr>
              <a:t>NOT YET</a:t>
            </a:r>
            <a:endParaRPr lang="en-US" sz="3800" dirty="0"/>
          </a:p>
        </p:txBody>
      </p:sp>
      <p:sp>
        <p:nvSpPr>
          <p:cNvPr id="14" name="Stat label 3"/>
          <p:cNvSpPr txBox="1"/>
          <p:nvPr/>
        </p:nvSpPr>
        <p:spPr>
          <a:xfrm>
            <a:off x="8415528" y="315468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Verified on real logs</a:t>
            </a:r>
            <a:endParaRPr lang="en-US" sz="1700" dirty="0"/>
          </a:p>
        </p:txBody>
      </p:sp>
      <p:sp>
        <p:nvSpPr>
          <p:cNvPr id="15" name="Stat note 3"/>
          <p:cNvSpPr txBox="1"/>
          <p:nvPr/>
        </p:nvSpPr>
        <p:spPr>
          <a:xfrm>
            <a:off x="8415528" y="356616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D"/>
                </a:solidFill>
              </a:rPr>
              <a:t>Real-log reliability</a:t>
            </a:r>
            <a:endParaRPr lang="en-US" sz="1300" dirty="0"/>
          </a:p>
        </p:txBody>
      </p:sp>
      <p:sp>
        <p:nvSpPr>
          <p:cNvPr id="16" name="Lab card"/>
          <p:cNvSpPr/>
          <p:nvPr/>
        </p:nvSpPr>
        <p:spPr>
          <a:xfrm>
            <a:off x="731520" y="4480560"/>
            <a:ext cx="10725912" cy="777240"/>
          </a:xfrm>
          <a:prstGeom prst="roundRect">
            <a:avLst>
              <a:gd name="adj" fmla="val 2117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7" name="Lab icon badge"/>
          <p:cNvSpPr/>
          <p:nvPr/>
        </p:nvSpPr>
        <p:spPr>
          <a:xfrm>
            <a:off x="1005840" y="4590288"/>
            <a:ext cx="548640" cy="548640"/>
          </a:xfrm>
          <a:prstGeom prst="ellipse">
            <a:avLst/>
          </a:prstGeom>
          <a:solidFill>
            <a:srgbClr val="00C8BE">
              <a:alpha val="20000"/>
            </a:srgbClr>
          </a:solidFill>
          <a:ln w="9525">
            <a:solidFill>
              <a:srgbClr val="00C8BE">
                <a:alpha val="60000"/>
              </a:srgbClr>
            </a:solidFill>
            <a:prstDash val="solid"/>
          </a:ln>
        </p:spPr>
      </p:sp>
      <p:pic>
        <p:nvPicPr>
          <p:cNvPr id="18" name="Lab icon" descr="La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" y="4743907"/>
            <a:ext cx="241402" cy="241402"/>
          </a:xfrm>
          <a:prstGeom prst="rect">
            <a:avLst/>
          </a:prstGeom>
        </p:spPr>
      </p:pic>
      <p:sp>
        <p:nvSpPr>
          <p:cNvPr id="19" name="Lab text"/>
          <p:cNvSpPr txBox="1"/>
          <p:nvPr/>
        </p:nvSpPr>
        <p:spPr>
          <a:xfrm>
            <a:off x="1783080" y="4480560"/>
            <a:ext cx="935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Authorized lab workflow + evaluation utility supplied</a:t>
            </a:r>
            <a:endParaRPr lang="en-US" sz="1700" dirty="0"/>
          </a:p>
        </p:txBody>
      </p:sp>
      <p:sp>
        <p:nvSpPr>
          <p:cNvPr id="20" name="Warning pill"/>
          <p:cNvSpPr/>
          <p:nvPr/>
        </p:nvSpPr>
        <p:spPr>
          <a:xfrm>
            <a:off x="731520" y="5577840"/>
            <a:ext cx="7223760" cy="384048"/>
          </a:xfrm>
          <a:prstGeom prst="roundRect">
            <a:avLst>
              <a:gd name="adj" fmla="val 50000"/>
            </a:avLst>
          </a:prstGeom>
          <a:solidFill>
            <a:srgbClr val="FF7A1A">
              <a:alpha val="15000"/>
            </a:srgbClr>
          </a:solidFill>
          <a:ln w="9525">
            <a:solidFill>
              <a:srgbClr val="FF7A1A">
                <a:alpha val="55000"/>
              </a:srgbClr>
            </a:solidFill>
            <a:prstDash val="solid"/>
          </a:ln>
        </p:spPr>
      </p:sp>
      <p:sp>
        <p:nvSpPr>
          <p:cNvPr id="21" name="Warning pill text"/>
          <p:cNvSpPr txBox="1"/>
          <p:nvPr/>
        </p:nvSpPr>
        <p:spPr>
          <a:xfrm>
            <a:off x="731520" y="55778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 not interpret synthetic test passes as real-log accuracy</a:t>
            </a:r>
            <a:endParaRPr lang="en-US" sz="1300" dirty="0"/>
          </a:p>
        </p:txBody>
      </p:sp>
      <p:sp>
        <p:nvSpPr>
          <p:cNvPr id="22" name="Brand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CyberFox Society</a:t>
            </a:r>
            <a:endParaRPr lang="en-US" sz="1100" dirty="0"/>
          </a:p>
        </p:txBody>
      </p:sp>
      <p:sp>
        <p:nvSpPr>
          <p:cNvPr id="23" name="Page"/>
          <p:cNvSpPr txBox="1"/>
          <p:nvPr/>
        </p:nvSpPr>
        <p:spPr>
          <a:xfrm>
            <a:off x="96286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4 / 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8BE"/>
                </a:solidFill>
              </a:rPr>
              <a:t>05 / FINAL OUTCOMES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868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Limitations &amp; Next Steps</a:t>
            </a:r>
            <a:endParaRPr lang="en-US" sz="4000" dirty="0"/>
          </a:p>
        </p:txBody>
      </p:sp>
      <p:sp>
        <p:nvSpPr>
          <p:cNvPr id="4" name="Step card 1"/>
          <p:cNvSpPr/>
          <p:nvPr/>
        </p:nvSpPr>
        <p:spPr>
          <a:xfrm>
            <a:off x="731520" y="1965960"/>
            <a:ext cx="5202936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Step number 1"/>
          <p:cNvSpPr txBox="1"/>
          <p:nvPr/>
        </p:nvSpPr>
        <p:spPr>
          <a:xfrm>
            <a:off x="1051560" y="2148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BE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Step text 1"/>
          <p:cNvSpPr txBox="1"/>
          <p:nvPr/>
        </p:nvSpPr>
        <p:spPr>
          <a:xfrm>
            <a:off x="1920240" y="214884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Test on authorized Windows/Sysmon lab exports</a:t>
            </a:r>
            <a:endParaRPr lang="en-US" sz="1600" dirty="0"/>
          </a:p>
        </p:txBody>
      </p:sp>
      <p:sp>
        <p:nvSpPr>
          <p:cNvPr id="7" name="Step card 2"/>
          <p:cNvSpPr/>
          <p:nvPr/>
        </p:nvSpPr>
        <p:spPr>
          <a:xfrm>
            <a:off x="6254496" y="1965960"/>
            <a:ext cx="5202936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8" name="Step number 2"/>
          <p:cNvSpPr txBox="1"/>
          <p:nvPr/>
        </p:nvSpPr>
        <p:spPr>
          <a:xfrm>
            <a:off x="6574536" y="2148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A1A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Step text 2"/>
          <p:cNvSpPr txBox="1"/>
          <p:nvPr/>
        </p:nvSpPr>
        <p:spPr>
          <a:xfrm>
            <a:off x="7443216" y="214884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Record labeled benign and positive scenarios; review alerts</a:t>
            </a:r>
            <a:endParaRPr lang="en-US" sz="1600" dirty="0"/>
          </a:p>
        </p:txBody>
      </p:sp>
      <p:sp>
        <p:nvSpPr>
          <p:cNvPr id="10" name="Step card 3"/>
          <p:cNvSpPr/>
          <p:nvPr/>
        </p:nvSpPr>
        <p:spPr>
          <a:xfrm>
            <a:off x="731520" y="3611880"/>
            <a:ext cx="5202936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1" name="Step number 3"/>
          <p:cNvSpPr txBox="1"/>
          <p:nvPr/>
        </p:nvSpPr>
        <p:spPr>
          <a:xfrm>
            <a:off x="1051560" y="37947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BE"/>
                </a:solidFill>
              </a:rPr>
              <a:t>03</a:t>
            </a:r>
            <a:endParaRPr lang="en-US" sz="3200" dirty="0"/>
          </a:p>
        </p:txBody>
      </p:sp>
      <p:sp>
        <p:nvSpPr>
          <p:cNvPr id="12" name="Step text 3"/>
          <p:cNvSpPr txBox="1"/>
          <p:nvPr/>
        </p:nvSpPr>
        <p:spPr>
          <a:xfrm>
            <a:off x="1920240" y="379476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Report TP, FP, FN, precision and recall after lab testing</a:t>
            </a:r>
            <a:endParaRPr lang="en-US" sz="1600" dirty="0"/>
          </a:p>
        </p:txBody>
      </p:sp>
      <p:sp>
        <p:nvSpPr>
          <p:cNvPr id="13" name="Step card 4"/>
          <p:cNvSpPr/>
          <p:nvPr/>
        </p:nvSpPr>
        <p:spPr>
          <a:xfrm>
            <a:off x="6254496" y="3611880"/>
            <a:ext cx="5202936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Step number 4"/>
          <p:cNvSpPr txBox="1"/>
          <p:nvPr/>
        </p:nvSpPr>
        <p:spPr>
          <a:xfrm>
            <a:off x="6574536" y="37947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A1A"/>
                </a:solidFill>
              </a:rPr>
              <a:t>04</a:t>
            </a:r>
            <a:endParaRPr lang="en-US" sz="3200" dirty="0"/>
          </a:p>
        </p:txBody>
      </p:sp>
      <p:sp>
        <p:nvSpPr>
          <p:cNvPr id="15" name="Step text 4"/>
          <p:cNvSpPr txBox="1"/>
          <p:nvPr/>
        </p:nvSpPr>
        <p:spPr>
          <a:xfrm>
            <a:off x="7443216" y="379476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Improve rules and parsing based on observed false alerts</a:t>
            </a:r>
            <a:endParaRPr lang="en-US" sz="1600" dirty="0"/>
          </a:p>
        </p:txBody>
      </p:sp>
      <p:sp>
        <p:nvSpPr>
          <p:cNvPr id="16" name="Deliverables pill"/>
          <p:cNvSpPr/>
          <p:nvPr/>
        </p:nvSpPr>
        <p:spPr>
          <a:xfrm>
            <a:off x="731520" y="5440680"/>
            <a:ext cx="5852160" cy="384048"/>
          </a:xfrm>
          <a:prstGeom prst="roundRect">
            <a:avLst>
              <a:gd name="adj" fmla="val 50000"/>
            </a:avLst>
          </a:prstGeom>
          <a:solidFill>
            <a:srgbClr val="00C8BE">
              <a:alpha val="15000"/>
            </a:srgbClr>
          </a:solidFill>
          <a:ln w="9525">
            <a:solidFill>
              <a:srgbClr val="00C8BE">
                <a:alpha val="55000"/>
              </a:srgbClr>
            </a:solidFill>
            <a:prstDash val="solid"/>
          </a:ln>
        </p:spPr>
      </p:sp>
      <p:sp>
        <p:nvSpPr>
          <p:cNvPr id="17" name="Deliverables pill text"/>
          <p:cNvSpPr txBox="1"/>
          <p:nvPr/>
        </p:nvSpPr>
        <p:spPr>
          <a:xfrm>
            <a:off x="731520" y="5440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Deliverables: code + 2-page report + 5-slide deck</a:t>
            </a:r>
            <a:endParaRPr lang="en-US" sz="1300" dirty="0"/>
          </a:p>
        </p:txBody>
      </p:sp>
      <p:sp>
        <p:nvSpPr>
          <p:cNvPr id="18" name="Brand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CyberFox Society</a:t>
            </a:r>
            <a:endParaRPr lang="en-US" sz="1100" dirty="0"/>
          </a:p>
        </p:txBody>
      </p:sp>
      <p:sp>
        <p:nvSpPr>
          <p:cNvPr id="19" name="Page"/>
          <p:cNvSpPr txBox="1"/>
          <p:nvPr/>
        </p:nvSpPr>
        <p:spPr>
          <a:xfrm>
            <a:off x="96286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5 / 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Fox Glass">
  <a:themeElements>
    <a:clrScheme name="CyberFox Glass">
      <a:dk1>
        <a:srgbClr val="060C1A"/>
      </a:dk1>
      <a:lt1>
        <a:srgbClr val="FFFFFF"/>
      </a:lt1>
      <a:dk2>
        <a:srgbClr val="0F1B33"/>
      </a:dk2>
      <a:lt2>
        <a:srgbClr val="E6EEF8"/>
      </a:lt2>
      <a:accent1>
        <a:srgbClr val="00C8BE"/>
      </a:accent1>
      <a:accent2>
        <a:srgbClr val="FF7A1A"/>
      </a:accent2>
      <a:accent3>
        <a:srgbClr val="285AFF"/>
      </a:accent3>
      <a:accent4>
        <a:srgbClr val="6E3CE6"/>
      </a:accent4>
      <a:accent5>
        <a:srgbClr val="FFC24B"/>
      </a:accent5>
      <a:accent6>
        <a:srgbClr val="FF5470"/>
      </a:accent6>
      <a:hlink>
        <a:srgbClr val="00C8BE"/>
      </a:hlink>
      <a:folHlink>
        <a:srgbClr val="9DB4D0"/>
      </a:folHlink>
    </a:clrScheme>
    <a:fontScheme name="CyberFox Gla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/ Sysmon Threat Detection</dc:title>
  <dc:subject>PptxGenJS Presentation</dc:subject>
  <dc:creator>PptxGenJS</dc:creator>
  <cp:lastModifiedBy>PptxGenJS</cp:lastModifiedBy>
  <cp:revision>1</cp:revision>
  <dcterms:created xsi:type="dcterms:W3CDTF">2026-10-29T15:00:15Z</dcterms:created>
  <dcterms:modified xsi:type="dcterms:W3CDTF">2026-10-29T15:00:15Z</dcterms:modified>
</cp:coreProperties>
</file>